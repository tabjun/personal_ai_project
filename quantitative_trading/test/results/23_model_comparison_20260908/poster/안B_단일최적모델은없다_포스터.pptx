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0" cy="43200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400000" cy="345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m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503999"/>
            <a:ext cx="2565269" cy="24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40000" y="360000"/>
            <a:ext cx="18360000" cy="1529614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암호화폐 변동성 예측에 단일 최적 모델은 없다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16개 모델의 변동성 구간별 강점 분해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CFE0EE"/>
                </a:solidFill>
                <a:latin typeface="맑은 고딕"/>
              </a:rPr>
              <a:t>모든 모델은 평균으로 수축한다. 정작 필요한 급변 구간에서 실제의 56~76%만 포착한다.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00" y="468000"/>
            <a:ext cx="7920000" cy="1010565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윤태준 · 손낙훈</a:t>
            </a:r>
          </a:p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CFE0EE"/>
                </a:solidFill>
                <a:latin typeface="맑은 고딕"/>
              </a:rPr>
              <a:t>계명대학교</a:t>
            </a:r>
          </a:p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CFE0EE"/>
                </a:solidFill>
                <a:latin typeface="맑은 고딕"/>
              </a:rPr>
              <a:t>자연과학대학 통계학과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456000"/>
            <a:ext cx="16200000" cy="612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456000"/>
            <a:ext cx="14760000" cy="433609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1</a:t>
            </a:r>
            <a:r>
              <a:rPr sz="1900" b="1">
                <a:solidFill>
                  <a:srgbClr val="FFFFFF"/>
                </a:solidFill>
                <a:latin typeface="맑은 고딕"/>
              </a:rPr>
              <a:t>   연구배경 및 연구목적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00000" y="3456000"/>
            <a:ext cx="16200000" cy="612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20000" y="3456000"/>
            <a:ext cx="14760000" cy="433609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2</a:t>
            </a:r>
            <a:r>
              <a:rPr sz="1900" b="1">
                <a:solidFill>
                  <a:srgbClr val="FFFFFF"/>
                </a:solidFill>
                <a:latin typeface="맑은 고딕"/>
              </a:rPr>
              <a:t>   분석자료 및 분석방법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4266000"/>
            <a:ext cx="14580000" cy="193998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0">
                <a:solidFill>
                  <a:srgbClr val="1C2530"/>
                </a:solidFill>
                <a:latin typeface="맑은 고딕"/>
              </a:rPr>
              <a:t>암호화폐는 24시간 거래되며, 크게 움직인 뒤에는 계속 크게 움직인다(</a:t>
            </a:r>
            <a:r>
              <a:rPr sz="1600" b="1">
                <a:solidFill>
                  <a:srgbClr val="C1440E"/>
                </a:solidFill>
                <a:latin typeface="맑은 고딕"/>
              </a:rPr>
              <a:t>변동성 군집</a:t>
            </a:r>
            <a:r>
              <a:rPr sz="1600" b="0">
                <a:solidFill>
                  <a:srgbClr val="1C2530"/>
                </a:solidFill>
                <a:latin typeface="맑은 고딕"/>
              </a:rPr>
              <a:t>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0">
                <a:solidFill>
                  <a:srgbClr val="1C2530"/>
                </a:solidFill>
                <a:latin typeface="맑은 고딕"/>
              </a:rPr>
              <a:t>· 방향(오를지 내릴지)은 자기상관이 0이라 예측이 어렵다.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0">
                <a:solidFill>
                  <a:srgbClr val="1C2530"/>
                </a:solidFill>
                <a:latin typeface="맑은 고딕"/>
              </a:rPr>
              <a:t>· 크기(변동성)는 자기상관이 남아 예측 가능하다. → 예측 대상으로 확정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0">
                <a:solidFill>
                  <a:srgbClr val="1C2530"/>
                </a:solidFill>
                <a:latin typeface="맑은 고딕"/>
              </a:rPr>
              <a:t>· 변동성 군집은 곧 </a:t>
            </a:r>
            <a:r>
              <a:rPr sz="1450" b="1">
                <a:solidFill>
                  <a:srgbClr val="163752"/>
                </a:solidFill>
                <a:latin typeface="맑은 고딕"/>
              </a:rPr>
              <a:t>조건부 이분산</a:t>
            </a:r>
            <a:r>
              <a:rPr sz="1450" b="0">
                <a:solidFill>
                  <a:srgbClr val="1C2530"/>
                </a:solidFill>
                <a:latin typeface="맑은 고딕"/>
              </a:rPr>
              <a:t>이며, 이것이 GARCH 계열이 존재하는 이유다.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4A5560"/>
                </a:solidFill>
                <a:latin typeface="맑은 고딕"/>
              </a:rPr>
              <a:t>· ARCH-LM 검정 p=0.000으로 조건부 이분산이 확인되고, |수익률|의 자기상관은 하루(96봉) 뒤에도 0.12로 완만히 감소해 장기기억을 보인다.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>
                <a:solidFill>
                  <a:srgbClr val="4A5560"/>
                </a:solidFill>
                <a:latin typeface="맑은 고딕"/>
              </a:rPr>
              <a:t>· 꼬리도 두껍다 — 초과첨도 107(정규분포는 0), 4σ를 넘는 급변이 정규분포 예상보다 약 100배 자주 나온다. 이것이 GARCH-t에 t분포를 쓴 이유다.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0000" y="6403989"/>
            <a:ext cx="14580000" cy="1584000"/>
          </a:xfrm>
          <a:prstGeom prst="roundRect">
            <a:avLst>
              <a:gd name="adj" fmla="val 8000"/>
            </a:avLst>
          </a:prstGeom>
          <a:solidFill>
            <a:srgbClr val="E7EEF4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6000" y="6529989"/>
            <a:ext cx="14147999" cy="721777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400" b="1">
                <a:solidFill>
                  <a:srgbClr val="C1440E"/>
                </a:solidFill>
                <a:latin typeface="맑은 고딕"/>
              </a:rPr>
              <a:t>연구 질문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500" b="0">
                <a:solidFill>
                  <a:srgbClr val="1C2530"/>
                </a:solidFill>
                <a:latin typeface="맑은 고딕"/>
              </a:rPr>
              <a:t>어느 모델이 가장 좋은가가 아니라, </a:t>
            </a:r>
            <a:r>
              <a:rPr sz="1500" b="1">
                <a:solidFill>
                  <a:srgbClr val="163752"/>
                </a:solidFill>
                <a:latin typeface="맑은 고딕"/>
              </a:rPr>
              <a:t>어떤 상황에서 어느 모델이 왜 좋은가</a:t>
            </a:r>
          </a:p>
        </p:txBody>
      </p:sp>
      <p:pic>
        <p:nvPicPr>
          <p:cNvPr id="14" name="Picture 13" descr="fig_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062" y="8185989"/>
            <a:ext cx="6517875" cy="468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0000" y="12991989"/>
            <a:ext cx="14580000" cy="368534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00" b="1">
                <a:solidFill>
                  <a:srgbClr val="C1440E"/>
                </a:solidFill>
                <a:latin typeface="맑은 고딕"/>
              </a:rPr>
              <a:t>그림 1. </a:t>
            </a:r>
            <a:r>
              <a:rPr sz="1300" b="0">
                <a:solidFill>
                  <a:srgbClr val="4A5560"/>
                </a:solidFill>
                <a:latin typeface="맑은 고딕"/>
              </a:rPr>
              <a:t>방향의 자기상관은 0에 붙어 있지만 크기의 자기상관은 하루 뒤에도 0.22 남는다. 예측 가능한 것은 방향이 아니라 크기다.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740000" y="4266000"/>
            <a:ext cx="9720000" cy="468000"/>
          </a:xfrm>
          <a:prstGeom prst="roundRect">
            <a:avLst>
              <a:gd name="adj" fmla="val 8000"/>
            </a:avLst>
          </a:prstGeom>
          <a:solidFill>
            <a:srgbClr val="2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40000" y="4266000"/>
            <a:ext cx="9720000" cy="46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● 모집단 20종목 전체 분석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40000" y="4950000"/>
            <a:ext cx="14580000" cy="397043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163752"/>
                </a:solidFill>
                <a:latin typeface="맑은 고딕"/>
              </a:rPr>
              <a:t>표 1. 데이터 요약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6740000" y="5401043"/>
          <a:ext cx="14579999" cy="3023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8181"/>
                <a:gridCol w="10161818"/>
              </a:tblGrid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종목 · 기간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상위 20종목 · 2023-07 ~ 2026-07 (약 3년)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봉 간격 · 규모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15분봉 · 총 2,051,268봉 (종목당 약 10만)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학습 / 검증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시간순 70% / 30%, 겹치지 않는 시점만 채점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예측 대상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1시간 뒤(4봉) 실현변동성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평가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QLIKE(주) · 상대오차(구간별 분해)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6740000" y="8551043"/>
            <a:ext cx="14580000" cy="342195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4A5560"/>
                </a:solidFill>
                <a:latin typeface="맑은 고딕"/>
              </a:rPr>
              <a:t>저가 코인은 호가 단위가 커서 15분간 가격이 안 움직이는 봉이 최대 26%다. 이때 변동성이 0으로 기록되므로 학습에서 제외하고, 예측치는 학습표본 범위로 제한했다(BPQ 2016).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740000" y="9091238"/>
            <a:ext cx="14580000" cy="1440000"/>
          </a:xfrm>
          <a:prstGeom prst="roundRect">
            <a:avLst>
              <a:gd name="adj" fmla="val 8000"/>
            </a:avLst>
          </a:prstGeom>
          <a:solidFill>
            <a:srgbClr val="E7EEF4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56000" y="9217238"/>
            <a:ext cx="14147999" cy="958815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C1440E"/>
                </a:solidFill>
                <a:latin typeface="맑은 고딕"/>
              </a:rPr>
              <a:t>지표 정의 — QLIKE란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163752"/>
                </a:solidFill>
                <a:latin typeface="맑은 고딕"/>
              </a:rPr>
              <a:t>QLIKE</a:t>
            </a:r>
            <a:r>
              <a:rPr sz="1300" b="0">
                <a:solidFill>
                  <a:srgbClr val="1C2530"/>
                </a:solidFill>
                <a:latin typeface="맑은 고딕"/>
              </a:rPr>
              <a:t> 실제보다 작게 예측할수록 벌점이 급격히 커지는 비대칭 손실. 위험(변동성) 과소평가를 엄격히 벌준다(Patton 2011). 낮을수록 좋다.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C2530"/>
                </a:solidFill>
                <a:latin typeface="맑은 고딕"/>
              </a:rPr>
              <a:t>노이즈 있는 변동성 대리변수 하에서도 순위를 보존하는 로버스트 손실로 증명된 두 지표(QLIKE·MSE) 중 하나라 주 지표로 쓴다. 절대값보다 모델 간 상대 비교로 해석한다.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40000" y="10657238"/>
            <a:ext cx="14580000" cy="56159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4A5560"/>
                </a:solidFill>
                <a:latin typeface="맑은 고딕"/>
              </a:rPr>
              <a:t>종목마다 가격 단위가 달라도(도지 192원 vs 비트코인 1억 원) 로그수익률 자체가 이미 비율이라 별도 단위 조정이 필요 없다. 다만 스케일러·GARCH 파라미터·이상치 클리핑 범위는 종목마다 독립적으로 적합했다(풀링 시 변동성이 큰 종목이 결과를 왜곡한다).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40000" y="11416828"/>
            <a:ext cx="14580000" cy="397043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163752"/>
                </a:solidFill>
                <a:latin typeface="맑은 고딕"/>
              </a:rPr>
              <a:t>표 2. 왜 이 모델들인가 — 가정이 서로 다르다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6740000" y="11867872"/>
          <a:ext cx="14579998" cy="3023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565"/>
                <a:gridCol w="6022173"/>
                <a:gridCol w="5388260"/>
              </a:tblGrid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계열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핵심 가정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기대되는 강점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GARCH-t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조건부 이분산 · 두꺼운 꼬리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급변 구간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HAR-RV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장기기억의 선형 결합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보통 구간(표준 벤치마크)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트리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가정 없음(비모수)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변동이 작은 구간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딥러닝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장기 의존을 직접 학습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중간 구간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50399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하이브리드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통계 구조 + 비모수 학습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결합 효과 검증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6740000" y="15017872"/>
            <a:ext cx="14580000" cy="56159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4A5560"/>
                </a:solidFill>
                <a:latin typeface="맑은 고딕"/>
              </a:rPr>
              <a:t>가정이 다르므로 입력도 다르게 준비해야 공정하다(GARCH=원수익률+t분포, HAR·선형=로그축, 트리=원스케일+시간구조, 딥러닝=RevIN). 오른쪽 '기대되는 강점'이 실제로 맞는지가 3절의 검증 대상이다.</a:t>
            </a:r>
            <a:r>
              <a:rPr sz="1200" b="0">
                <a:solidFill>
                  <a:srgbClr val="4A5560"/>
                </a:solidFill>
                <a:latin typeface="맑은 고딕"/>
              </a:rPr>
              <a:t>GARCH-t의 t분포는 분포 규명 EDA에서 확인된 Hill 꼬리지수 α≈2.6~2.8(정규분포보다 훨씬 두꺼운 꼬리, 이론상 첨도 무한)을 이론적으로 보완하려는 선택이다.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15777462"/>
            <a:ext cx="32400000" cy="612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000" y="15777462"/>
            <a:ext cx="14400000" cy="433609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3</a:t>
            </a:r>
            <a:r>
              <a:rPr sz="1900" b="1">
                <a:solidFill>
                  <a:srgbClr val="FFFFFF"/>
                </a:solidFill>
                <a:latin typeface="맑은 고딕"/>
              </a:rPr>
              <a:t>   결과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0000" y="16587462"/>
            <a:ext cx="9360000" cy="486000"/>
          </a:xfrm>
          <a:prstGeom prst="roundRect">
            <a:avLst>
              <a:gd name="adj" fmla="val 8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000" y="16587462"/>
            <a:ext cx="9360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관찰 — 평균은 구간별 차이를 가린다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0000" y="17235462"/>
            <a:ext cx="14904000" cy="1655999"/>
          </a:xfrm>
          <a:prstGeom prst="roundRect">
            <a:avLst>
              <a:gd name="adj" fmla="val 8000"/>
            </a:avLst>
          </a:prstGeom>
          <a:solidFill>
            <a:srgbClr val="E7EEF4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0000" y="17415462"/>
            <a:ext cx="14904000" cy="1295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1">
                <a:solidFill>
                  <a:srgbClr val="C1440E"/>
                </a:solidFill>
                <a:latin typeface="맑은 고딕"/>
              </a:rPr>
              <a:t>20종목 평균 QLIKE 1위</a:t>
            </a:r>
          </a:p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63752"/>
                </a:solidFill>
                <a:latin typeface="맑은 고딕"/>
              </a:rPr>
              <a:t>GARCH-t  −8.497</a:t>
            </a:r>
          </a:p>
          <a:p>
            <a:pPr algn="ctr">
              <a:spcAft>
                <a:spcPts val="800"/>
              </a:spcAft>
            </a:pPr>
            <a:r>
              <a:rPr sz="1150" b="0">
                <a:solidFill>
                  <a:srgbClr val="4A5560"/>
                </a:solidFill>
                <a:latin typeface="맑은 고딕"/>
              </a:rPr>
              <a:t>16개 모델 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16000" y="17235462"/>
            <a:ext cx="14904000" cy="1655999"/>
          </a:xfrm>
          <a:prstGeom prst="roundRect">
            <a:avLst>
              <a:gd name="adj" fmla="val 8000"/>
            </a:avLst>
          </a:prstGeom>
          <a:solidFill>
            <a:srgbClr val="E7EEF4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16000" y="17415462"/>
            <a:ext cx="14904000" cy="1295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1">
                <a:solidFill>
                  <a:srgbClr val="C1440E"/>
                </a:solidFill>
                <a:latin typeface="맑은 고딕"/>
              </a:rPr>
              <a:t>구간별로 뜯어보면?</a:t>
            </a:r>
          </a:p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63752"/>
                </a:solidFill>
                <a:latin typeface="맑은 고딕"/>
              </a:rPr>
              <a:t>구간마다 다른 모델이 1위</a:t>
            </a:r>
          </a:p>
          <a:p>
            <a:pPr algn="ctr">
              <a:spcAft>
                <a:spcPts val="800"/>
              </a:spcAft>
            </a:pPr>
            <a:r>
              <a:rPr sz="1150" b="0">
                <a:solidFill>
                  <a:srgbClr val="4A5560"/>
                </a:solidFill>
                <a:latin typeface="맑은 고딕"/>
              </a:rPr>
              <a:t>5개 구간 중 4개는 GARCH-t가 아님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0000" y="19053462"/>
            <a:ext cx="30240000" cy="3830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1C2530"/>
                </a:solidFill>
                <a:latin typeface="맑은 고딕"/>
              </a:rPr>
              <a:t>20종목 평균 QLIKE 하나만 보면 GARCH-t가 1위처럼 보인다. 하지만 이 평균은 5개 변동성 구간을 뭉뚱그린 값이라, </a:t>
            </a:r>
            <a:r>
              <a:rPr sz="1400" b="1">
                <a:solidFill>
                  <a:srgbClr val="C1440E"/>
                </a:solidFill>
                <a:latin typeface="맑은 고딕"/>
              </a:rPr>
              <a:t>구간별로 뜯어보면 평균에 가려졌던 차이가 드러난다</a:t>
            </a:r>
            <a:r>
              <a:rPr sz="1400" b="0">
                <a:solidFill>
                  <a:srgbClr val="1C2530"/>
                </a:solidFill>
                <a:latin typeface="맑은 고딕"/>
              </a:rPr>
              <a:t>. 이를 구간별로 분해해 확인했다.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0000" y="19634561"/>
            <a:ext cx="9360000" cy="4860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000" y="19634561"/>
            <a:ext cx="9360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핵심 결과 — 구간별 성능 분해</a:t>
            </a:r>
          </a:p>
        </p:txBody>
      </p:sp>
      <p:pic>
        <p:nvPicPr>
          <p:cNvPr id="38" name="Picture 37" descr="fig_regime_full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656" y="20282561"/>
            <a:ext cx="13706686" cy="558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0000" y="26006562"/>
            <a:ext cx="30240000" cy="364506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C1440E"/>
                </a:solidFill>
                <a:latin typeface="맑은 고딕"/>
              </a:rPr>
              <a:t>그림 2. </a:t>
            </a:r>
            <a:r>
              <a:rPr sz="1300" b="0">
                <a:solidFill>
                  <a:srgbClr val="4A5560"/>
                </a:solidFill>
                <a:latin typeface="맑은 고딕"/>
              </a:rPr>
              <a:t>실제 변동성을 크기 순으로 5개 구간(20%씩)으로 나눠 성능을 분해했다(20종목 전체). 왼쪽은 모든 모델이 변동이 작을 때는 1.8~2.5배 부풀리고 변동이 클 때는 54~72%만 포착한다는 것을, 오른쪽은 구간마다 최우수 모델이 다르며 표 2의 '기대되는 강점'과 대체로 일치한다는 것을 보여준다.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080000" y="26497068"/>
          <a:ext cx="30239996" cy="34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1176"/>
                <a:gridCol w="4891764"/>
                <a:gridCol w="4891764"/>
                <a:gridCol w="4891764"/>
                <a:gridCol w="4891764"/>
                <a:gridCol w="4891764"/>
              </a:tblGrid>
              <a:tr h="4860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±0.35%이내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±0.35~0.53%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±0.53~0.74%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±0.74~1.09%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63752"/>
                          </a:solidFill>
                          <a:latin typeface="맑은 고딕"/>
                        </a:rPr>
                        <a:t>±1.09%초과</a:t>
                      </a:r>
                    </a:p>
                  </a:txBody>
                  <a:tcPr marL="72000" marR="72000" marT="18000" marB="18000" anchor="ctr">
                    <a:solidFill>
                      <a:srgbClr val="E7EEF4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GARCH-t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1.696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0.665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0.378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0.270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★0.341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LSTM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★0.313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0.236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0.277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0.416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GRU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1.016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0.331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0.243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0.274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0.408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LightGBM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★0.991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0.333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0.241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★0.263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0.404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HAR-RV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1.033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0.331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★0.229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0.275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0.437</a:t>
                      </a:r>
                    </a:p>
                  </a:txBody>
                  <a:tcPr marL="72000" marR="72000" marT="18000" marB="18000" anchor="ctr">
                    <a:solidFill>
                      <a:srgbClr val="FFFFFF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naive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1.142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0.561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0.441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0.389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0">
                          <a:solidFill>
                            <a:srgbClr val="1C2530"/>
                          </a:solidFill>
                          <a:latin typeface="맑은 고딕"/>
                        </a:rPr>
                        <a:t>0.429</a:t>
                      </a:r>
                    </a:p>
                  </a:txBody>
                  <a:tcPr marL="72000" marR="72000" marT="18000" marB="18000" anchor="ctr">
                    <a:solidFill>
                      <a:srgbClr val="F7F8F9"/>
                    </a:solidFill>
                    <a:lnL w="6350">
                      <a:solidFill>
                        <a:srgbClr val="D8DEE4"/>
                      </a:solidFill>
                    </a:lnL>
                    <a:lnR w="6350">
                      <a:solidFill>
                        <a:srgbClr val="D8DEE4"/>
                      </a:solidFill>
                    </a:lnR>
                    <a:lnT w="6350">
                      <a:solidFill>
                        <a:srgbClr val="D8DEE4"/>
                      </a:solidFill>
                    </a:lnT>
                    <a:lnB w="6350">
                      <a:solidFill>
                        <a:srgbClr val="D8DE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080000" y="30025068"/>
            <a:ext cx="30240000" cy="342195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4A5560"/>
                </a:solidFill>
                <a:latin typeface="맑은 고딕"/>
              </a:rPr>
              <a:t>표 3. 구간별 상대오차(20종목, 낮을수록 좋음, ★=구간 내 최우수). </a:t>
            </a:r>
            <a:r>
              <a:rPr sz="1200" b="0">
                <a:solidFill>
                  <a:srgbClr val="4A5560"/>
                </a:solidFill>
                <a:latin typeface="맑은 고딕"/>
              </a:rPr>
              <a:t>1~4번째 구간은 1위와 2위 차이가 0.9~5.7%에 불과한 접전이지만, 마지막 급변 구간만 GARCH-t가 2위보다 18.5% 더 낫다 — 의미 있는 격차는 사실상 급변 구간 하나뿐이다.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80000" y="30511263"/>
            <a:ext cx="30240000" cy="936000"/>
          </a:xfrm>
          <a:prstGeom prst="roundRect">
            <a:avLst>
              <a:gd name="adj" fmla="val 8000"/>
            </a:avLst>
          </a:prstGeom>
          <a:solidFill>
            <a:srgbClr val="E7EEF4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6000" y="30637263"/>
            <a:ext cx="29808000" cy="364506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C1440E"/>
                </a:solidFill>
                <a:latin typeface="맑은 고딕"/>
              </a:rPr>
              <a:t>문헌 대비 — </a:t>
            </a:r>
            <a:r>
              <a:rPr sz="1300" b="0">
                <a:solidFill>
                  <a:srgbClr val="1C2530"/>
                </a:solidFill>
                <a:latin typeface="맑은 고딕"/>
              </a:rPr>
              <a:t>20종목 평균 기준 HAR-RV 대비 최고 모델(GARCH-t) QLIKE 개선폭은 0.267단위다. Brauneis &amp; Sahiner(2024, Asia-Pacific Financial Markets)가 8개 코인에서 보고한 HAR→ML 개선폭 0.6단위의 절반 수준으로, 문헌의 정상 범위 안이되 상단은 아니다.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0000" y="31645263"/>
            <a:ext cx="9360000" cy="486000"/>
          </a:xfrm>
          <a:prstGeom prst="roundRect">
            <a:avLst>
              <a:gd name="adj" fmla="val 8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0000" y="31645263"/>
            <a:ext cx="9360000" cy="4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부수 결과 — 시간대 주기 제거</a:t>
            </a:r>
          </a:p>
        </p:txBody>
      </p:sp>
      <p:pic>
        <p:nvPicPr>
          <p:cNvPr id="46" name="Picture 45" descr="fig3_periodic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0686" y="32293263"/>
            <a:ext cx="6458627" cy="3600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80000" y="36037263"/>
            <a:ext cx="30240000" cy="364506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C1440E"/>
                </a:solidFill>
                <a:latin typeface="맑은 고딕"/>
              </a:rPr>
              <a:t>그림 3. </a:t>
            </a:r>
            <a:r>
              <a:rPr sz="1300" b="0">
                <a:solidFill>
                  <a:srgbClr val="4A5560"/>
                </a:solidFill>
                <a:latin typeface="맑은 고딕"/>
              </a:rPr>
              <a:t>암호화폐는 24시간 거래되지만 시간대별 변동성이 최대 1.86배 차이난다. 이 주기 성분을 제거하자 </a:t>
            </a:r>
            <a:r>
              <a:rPr sz="1300" b="1">
                <a:solidFill>
                  <a:srgbClr val="C1440E"/>
                </a:solidFill>
                <a:latin typeface="맑은 고딕"/>
              </a:rPr>
              <a:t>16개 모델 전부</a:t>
            </a:r>
            <a:r>
              <a:rPr sz="1300" b="0">
                <a:solidFill>
                  <a:srgbClr val="4A5560"/>
                </a:solidFill>
                <a:latin typeface="맑은 고딕"/>
              </a:rPr>
              <a:t>에서 QLIKE가 개선됐다. 예외가 하나도 없다는 점에서, 시간대 효과는 모델 종류와 무관하게 제거하고 모델링하는 편이 낫다.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36599769"/>
            <a:ext cx="32400000" cy="3924000"/>
          </a:xfrm>
          <a:prstGeom prst="rect">
            <a:avLst/>
          </a:prstGeom>
          <a:solidFill>
            <a:srgbClr val="163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0000" y="36815769"/>
            <a:ext cx="14400000" cy="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49" name="Oval 48"/>
          <p:cNvSpPr/>
          <p:nvPr/>
        </p:nvSpPr>
        <p:spPr>
          <a:xfrm>
            <a:off x="1080000" y="37391769"/>
            <a:ext cx="396000" cy="39600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20000" y="37301769"/>
            <a:ext cx="14327999" cy="9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FFFFF"/>
                </a:solidFill>
                <a:latin typeface="맑은 고딕"/>
              </a:rPr>
              <a:t>모든 모델이 평균으로 수축 — 변동이 클 때 실제의 56~76%만 포착</a:t>
            </a:r>
          </a:p>
        </p:txBody>
      </p:sp>
      <p:sp>
        <p:nvSpPr>
          <p:cNvPr id="51" name="Oval 50"/>
          <p:cNvSpPr/>
          <p:nvPr/>
        </p:nvSpPr>
        <p:spPr>
          <a:xfrm>
            <a:off x="16451999" y="37391769"/>
            <a:ext cx="396000" cy="39600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92000" y="37301769"/>
            <a:ext cx="14327999" cy="9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FFFFF"/>
                </a:solidFill>
                <a:latin typeface="맑은 고딕"/>
              </a:rPr>
              <a:t>구간마다 최우수 모델이 다름 — 단일 최적 모델은 없음</a:t>
            </a:r>
          </a:p>
        </p:txBody>
      </p:sp>
      <p:sp>
        <p:nvSpPr>
          <p:cNvPr id="53" name="Oval 52"/>
          <p:cNvSpPr/>
          <p:nvPr/>
        </p:nvSpPr>
        <p:spPr>
          <a:xfrm>
            <a:off x="1080000" y="38471769"/>
            <a:ext cx="396000" cy="39600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20000" y="38381769"/>
            <a:ext cx="14327999" cy="9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FFFFF"/>
                </a:solidFill>
                <a:latin typeface="맑은 고딕"/>
              </a:rPr>
              <a:t>모델 선택은 목적에 따라 다름 — 급변 리스크 관리엔 GARCH-t, 평상시 정확도엔 LightGBM·HAR-RV</a:t>
            </a:r>
          </a:p>
        </p:txBody>
      </p:sp>
      <p:sp>
        <p:nvSpPr>
          <p:cNvPr id="55" name="Oval 54"/>
          <p:cNvSpPr/>
          <p:nvPr/>
        </p:nvSpPr>
        <p:spPr>
          <a:xfrm>
            <a:off x="16451999" y="38471769"/>
            <a:ext cx="396000" cy="39600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92000" y="38381769"/>
            <a:ext cx="14327999" cy="9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FFFFFF"/>
                </a:solidFill>
                <a:latin typeface="맑은 고딕"/>
              </a:rPr>
              <a:t>한계 — 꼬리(극단치) 분포는 연구 목적 밖이라 t분포로 이론적 완화만 가정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0000" y="39695769"/>
            <a:ext cx="30240000" cy="18000"/>
          </a:xfrm>
          <a:prstGeom prst="rect">
            <a:avLst/>
          </a:prstGeom>
          <a:solidFill>
            <a:srgbClr val="4A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0000" y="39803769"/>
            <a:ext cx="3960000" cy="503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맑은 고딕"/>
              </a:rPr>
              <a:t>다음 연구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580000" y="39785769"/>
            <a:ext cx="2412000" cy="450000"/>
          </a:xfrm>
          <a:prstGeom prst="roundRect">
            <a:avLst>
              <a:gd name="adj" fmla="val 8000"/>
            </a:avLst>
          </a:prstGeom>
          <a:solidFill>
            <a:srgbClr val="2E5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80000" y="39785769"/>
            <a:ext cx="2412000" cy="4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>
                <a:solidFill>
                  <a:srgbClr val="FFFFFF"/>
                </a:solidFill>
                <a:latin typeface="맑은 고딕"/>
              </a:rPr>
              <a:t>수축 보정(변동성 재조정)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00000" y="39785769"/>
            <a:ext cx="324000" cy="4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>
                <a:solidFill>
                  <a:srgbClr val="CFE0EE"/>
                </a:solidFill>
                <a:latin typeface="맑은 고딕"/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60000" y="39785769"/>
            <a:ext cx="1980000" cy="450000"/>
          </a:xfrm>
          <a:prstGeom prst="roundRect">
            <a:avLst>
              <a:gd name="adj" fmla="val 8000"/>
            </a:avLst>
          </a:prstGeom>
          <a:solidFill>
            <a:srgbClr val="2E5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60000" y="39785769"/>
            <a:ext cx="1980000" cy="4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>
                <a:solidFill>
                  <a:srgbClr val="FFFFFF"/>
                </a:solidFill>
                <a:latin typeface="맑은 고딕"/>
              </a:rPr>
              <a:t>레짐 전환 GARCH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48000" y="39785769"/>
            <a:ext cx="324000" cy="4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>
                <a:solidFill>
                  <a:srgbClr val="CFE0EE"/>
                </a:solidFill>
                <a:latin typeface="맑은 고딕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08000" y="39785769"/>
            <a:ext cx="1692000" cy="450000"/>
          </a:xfrm>
          <a:prstGeom prst="roundRect">
            <a:avLst>
              <a:gd name="adj" fmla="val 8000"/>
            </a:avLst>
          </a:prstGeom>
          <a:solidFill>
            <a:srgbClr val="2E5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08000" y="39785769"/>
            <a:ext cx="1692000" cy="4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>
                <a:solidFill>
                  <a:srgbClr val="FFFFFF"/>
                </a:solidFill>
                <a:latin typeface="맑은 고딕"/>
              </a:rPr>
              <a:t>구간별 모델 결합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707999" y="39785769"/>
            <a:ext cx="324000" cy="4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>
                <a:solidFill>
                  <a:srgbClr val="CFE0EE"/>
                </a:solidFill>
                <a:latin typeface="맑은 고딕"/>
              </a:rP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067999" y="39785769"/>
            <a:ext cx="1692000" cy="450000"/>
          </a:xfrm>
          <a:prstGeom prst="roundRect">
            <a:avLst>
              <a:gd name="adj" fmla="val 8000"/>
            </a:avLst>
          </a:prstGeom>
          <a:solidFill>
            <a:srgbClr val="2E5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067999" y="39785769"/>
            <a:ext cx="1692000" cy="4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>
                <a:solidFill>
                  <a:srgbClr val="FFFFFF"/>
                </a:solidFill>
                <a:latin typeface="맑은 고딕"/>
              </a:rPr>
              <a:t>표본 이질성 확인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867999" y="39785769"/>
            <a:ext cx="324000" cy="4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>
                <a:solidFill>
                  <a:srgbClr val="CFE0EE"/>
                </a:solidFill>
                <a:latin typeface="맑은 고딕"/>
              </a:rPr>
              <a:t>→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5227999" y="39785769"/>
            <a:ext cx="2268000" cy="450000"/>
          </a:xfrm>
          <a:prstGeom prst="roundRect">
            <a:avLst>
              <a:gd name="adj" fmla="val 8000"/>
            </a:avLst>
          </a:prstGeom>
          <a:solidFill>
            <a:srgbClr val="2E5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227999" y="39785769"/>
            <a:ext cx="2268000" cy="4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>
                <a:solidFill>
                  <a:srgbClr val="FFFFFF"/>
                </a:solidFill>
                <a:latin typeface="맑은 고딕"/>
              </a:rPr>
              <a:t>모델 사이즈 확대 재적합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0000" y="40703769"/>
            <a:ext cx="30240000" cy="468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>
                <a:solidFill>
                  <a:srgbClr val="4A5560"/>
                </a:solidFill>
                <a:latin typeface="맑은 고딕"/>
              </a:rPr>
              <a:t>계명대학교 자연과학대학 통계학과 · 지도교수 손낙훈 ·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